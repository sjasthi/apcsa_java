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276" r:id="rId2"/>
    <p:sldId id="355" r:id="rId3"/>
    <p:sldId id="348" r:id="rId4"/>
    <p:sldId id="351" r:id="rId5"/>
    <p:sldId id="352" r:id="rId6"/>
    <p:sldId id="286" r:id="rId7"/>
    <p:sldId id="353" r:id="rId8"/>
    <p:sldId id="354" r:id="rId9"/>
    <p:sldId id="356" r:id="rId10"/>
    <p:sldId id="357" r:id="rId11"/>
    <p:sldId id="341" r:id="rId12"/>
    <p:sldId id="310" r:id="rId13"/>
  </p:sldIdLst>
  <p:sldSz cx="9144000" cy="6858000" type="screen4x3"/>
  <p:notesSz cx="6992938" cy="9278938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accent2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accent2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accent2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accent2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accent2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accent2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accent2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accent2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accent2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0099CC"/>
    <a:srgbClr val="CCFFFF"/>
    <a:srgbClr val="CCECFF"/>
    <a:srgbClr val="99CCFF"/>
    <a:srgbClr val="969696"/>
    <a:srgbClr val="D7F5ED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F4B96FF-A350-4557-AA51-5F4AE29DC3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11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>
            <a:lvl1pPr defTabSz="915988">
              <a:spcBef>
                <a:spcPct val="0"/>
              </a:spcBef>
              <a:buFontTx/>
              <a:buNone/>
              <a:defRPr kumimoji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5E08BA7-3A2D-473D-81F0-169D4320DE2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511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>
            <a:lvl1pPr algn="r" defTabSz="915988">
              <a:spcBef>
                <a:spcPct val="0"/>
              </a:spcBef>
              <a:buFontTx/>
              <a:buNone/>
              <a:defRPr kumimoji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2E004E2D-B67C-4DCA-AC68-78651964A60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7138"/>
            <a:ext cx="30511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21" tIns="45761" rIns="91521" bIns="45761" numCol="1" anchor="b" anchorCtr="0" compatLnSpc="1">
            <a:prstTxWarp prst="textNoShape">
              <a:avLst/>
            </a:prstTxWarp>
          </a:bodyPr>
          <a:lstStyle>
            <a:lvl1pPr defTabSz="915988">
              <a:spcBef>
                <a:spcPct val="0"/>
              </a:spcBef>
              <a:buFontTx/>
              <a:buNone/>
              <a:defRPr kumimoji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5CBA00D4-B259-439C-B13B-0EC3BEB216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47138"/>
            <a:ext cx="30511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21" tIns="45761" rIns="91521" bIns="45761" numCol="1" anchor="b" anchorCtr="0" compatLnSpc="1">
            <a:prstTxWarp prst="textNoShape">
              <a:avLst/>
            </a:prstTxWarp>
          </a:bodyPr>
          <a:lstStyle>
            <a:lvl1pPr algn="r" defTabSz="915988">
              <a:spcBef>
                <a:spcPct val="0"/>
              </a:spcBef>
              <a:buFontTx/>
              <a:buNone/>
              <a:defRPr kumimoji="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AB87827-F44B-4BF5-9160-681998EEF44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F288FC6-73B5-41A3-8B08-BFC88AA2A9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11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>
            <a:lvl1pPr defTabSz="915988">
              <a:spcBef>
                <a:spcPct val="0"/>
              </a:spcBef>
              <a:buFontTx/>
              <a:buNone/>
              <a:defRPr kumimoj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7953623-A553-4E61-AD92-1AFA63169C0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511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>
            <a:lvl1pPr algn="r" defTabSz="915988">
              <a:spcBef>
                <a:spcPct val="0"/>
              </a:spcBef>
              <a:buFontTx/>
              <a:buNone/>
              <a:defRPr kumimoj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1B6CF1D-2BF5-4319-8BE9-3BC848F7053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3475" y="687388"/>
            <a:ext cx="4676775" cy="35067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21022972-A08E-4B21-8376-4D5CFCE1D03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422775"/>
            <a:ext cx="5110162" cy="4194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21" tIns="45761" rIns="91521" bIns="457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Click to edit Master text styles</a:t>
            </a:r>
          </a:p>
          <a:p>
            <a:pPr lvl="1"/>
            <a:r>
              <a:rPr lang="en-GB" altLang="en-US" noProof="0"/>
              <a:t>Second level</a:t>
            </a:r>
          </a:p>
          <a:p>
            <a:pPr lvl="2"/>
            <a:r>
              <a:rPr lang="en-GB" altLang="en-US" noProof="0"/>
              <a:t>Third level</a:t>
            </a:r>
          </a:p>
          <a:p>
            <a:pPr lvl="3"/>
            <a:r>
              <a:rPr lang="en-GB" altLang="en-US" noProof="0"/>
              <a:t>Fourth level</a:t>
            </a:r>
          </a:p>
          <a:p>
            <a:pPr lvl="4"/>
            <a:r>
              <a:rPr lang="en-GB" alt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2FEE6A66-844B-4C30-AC97-5625F08C0F7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7138"/>
            <a:ext cx="30511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21" tIns="45761" rIns="91521" bIns="45761" numCol="1" anchor="b" anchorCtr="0" compatLnSpc="1">
            <a:prstTxWarp prst="textNoShape">
              <a:avLst/>
            </a:prstTxWarp>
          </a:bodyPr>
          <a:lstStyle>
            <a:lvl1pPr defTabSz="915988">
              <a:spcBef>
                <a:spcPct val="0"/>
              </a:spcBef>
              <a:buFontTx/>
              <a:buNone/>
              <a:defRPr kumimoj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3CCCCDC5-9928-4568-B785-5B376FDA9F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47138"/>
            <a:ext cx="30511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21" tIns="45761" rIns="91521" bIns="45761" numCol="1" anchor="b" anchorCtr="0" compatLnSpc="1">
            <a:prstTxWarp prst="textNoShape">
              <a:avLst/>
            </a:prstTxWarp>
          </a:bodyPr>
          <a:lstStyle>
            <a:lvl1pPr algn="r" defTabSz="915988">
              <a:spcBef>
                <a:spcPct val="0"/>
              </a:spcBef>
              <a:buFontTx/>
              <a:buNone/>
              <a:defRPr kumimoji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A3CA2EA-7685-49E1-864E-4446AAE4206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23825" indent="-12382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579438" indent="-122238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035050" indent="-120650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90663" indent="-119063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946275" indent="-11747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368E4A9-3ADB-404B-A64F-3E939EF43A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7EA69FF-9E11-41C3-B91A-9CEEF787D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29057" indent="-280406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21626" indent="-224325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570276" indent="-224325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18927" indent="-224325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46757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1622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36487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1352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</a:pPr>
            <a:fld id="{3814A7B7-5A12-40FA-A19D-E28B7CEE9CEE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F490617-2EAE-4396-9B25-36654B8EB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89A5C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15BD0BA6-80BB-4D56-9FDB-9D4C2498D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1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7511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DD37231-42A1-4AAF-9465-6C9B9C32069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" y="6477000"/>
            <a:ext cx="7696200" cy="228600"/>
          </a:xfrm>
        </p:spPr>
        <p:txBody>
          <a:bodyPr/>
          <a:lstStyle>
            <a:lvl1pPr>
              <a:defRPr sz="1400" b="0"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>
              <a:solidFill>
                <a:srgbClr val="FFFFFF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FC32C7A-E03E-4F1B-AF4A-1E0FAD8B1E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077200" y="6477000"/>
            <a:ext cx="381000" cy="228600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D71C875-80C6-4AF7-B967-397F3608B09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54602245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8462358-31A5-4831-B7E6-A01F64243E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C915AA3C-3F4C-4C9C-A069-57A27ADCB74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F2107-411E-4E4D-AF21-BA091B64E6DA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850739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7C1BFC1-F7C3-4306-A2CB-38854FEA059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77A32219-43F2-4084-BFEC-B1CE0546F4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588C6-EE15-40DE-9E8D-D6F8308EA1BC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131184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143000"/>
            <a:ext cx="441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143000"/>
            <a:ext cx="441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3FDE5DB-0B58-4676-A501-DF2DF52459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5F276E0-C4A8-46B3-B2A1-7409A2BF3E1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F335F5-9D8A-4D11-940A-375E52E43276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402725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5BB3D5A-1747-4342-AB69-2AD75EDD645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0647F327-1A27-4A9F-B196-CE8E513AE4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350C0-308B-4D22-8F68-F2A2446E9EC3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554439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632CB73B-5F74-4A41-90CC-E5EFD5B5D22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9E134348-C2D8-416E-A5D8-9CB4B17FDC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C370F-0DC8-46A5-99A1-D4BD23B10651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83223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DBFC5A33-E738-4378-9044-FE96371288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BBDB61B6-7A53-4E5F-AFCC-376DE73A26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28171-318D-4DE8-8541-DFFF8AF878D6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645449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92A131F-484D-4777-BC1D-52E03CEF6B1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ECE96A44-2962-41C3-AEE0-0A8938A405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D12264-B495-4419-B6DB-455F4DE53CF9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457124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7820B2C-A019-4A88-A18E-123552230B1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7FC045E-74E6-4D1C-B467-6A776517EF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D72D7F-DC81-4384-A677-E1464CC6ECB0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79723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0F2337E-00DA-42E0-BB2C-CBB036F55B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0D188811-D71D-49E5-9D38-BC46249D7E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7E8BE-1D84-4A99-95F3-84AA8CBFA03E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819071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0" y="0"/>
            <a:ext cx="22479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5913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29C98E0-50CF-4699-89A6-6472B20CA9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826AA334-40B9-453B-9C13-27F4E66461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530FD-EF64-4467-97A2-41FA1D720508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871949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4">
            <a:extLst>
              <a:ext uri="{FF2B5EF4-FFF2-40B4-BE49-F238E27FC236}">
                <a16:creationId xmlns:a16="http://schemas.microsoft.com/office/drawing/2014/main" id="{64DEC212-A503-4024-B982-DB7917926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89A5C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ED1815C1-6948-4DE1-A70B-6A79CD5A22A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6294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buFontTx/>
              <a:buNone/>
              <a:defRPr kumimoji="0" b="1"/>
            </a:lvl1pPr>
          </a:lstStyle>
          <a:p>
            <a:pPr>
              <a:defRPr/>
            </a:pPr>
            <a:r>
              <a:rPr lang="en-GB" altLang="en-US"/>
              <a:t>Siva R Jasthi                                                                          Programming with elementary data structures</a:t>
            </a:r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33271643-09C8-4D75-B30C-54A0D8635E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6294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buFontTx/>
              <a:buNone/>
              <a:defRPr kumimoji="0"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BC3C931-AFC8-4D59-9DC2-C45B2873D028}" type="slidenum">
              <a:rPr lang="en-GB" altLang="en-US"/>
              <a:pPr>
                <a:defRPr/>
              </a:pPr>
              <a:t>‹#›</a:t>
            </a:fld>
            <a:endParaRPr lang="en-GB" altLang="en-US">
              <a:solidFill>
                <a:srgbClr val="FFFFFF"/>
              </a:solidFill>
            </a:endParaRPr>
          </a:p>
        </p:txBody>
      </p:sp>
      <p:sp>
        <p:nvSpPr>
          <p:cNvPr id="1029" name="Rectangle 11">
            <a:extLst>
              <a:ext uri="{FF2B5EF4-FFF2-40B4-BE49-F238E27FC236}">
                <a16:creationId xmlns:a16="http://schemas.microsoft.com/office/drawing/2014/main" id="{0709A0E5-5DB4-420C-BFD5-F135AC0D72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143000"/>
            <a:ext cx="8991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		</a:t>
            </a:r>
          </a:p>
          <a:p>
            <a:pPr lvl="3"/>
            <a:r>
              <a:rPr lang="en-GB" altLang="en-US"/>
              <a:t>Fourth level</a:t>
            </a:r>
          </a:p>
        </p:txBody>
      </p:sp>
      <p:sp>
        <p:nvSpPr>
          <p:cNvPr id="1030" name="Rectangle 10">
            <a:extLst>
              <a:ext uri="{FF2B5EF4-FFF2-40B4-BE49-F238E27FC236}">
                <a16:creationId xmlns:a16="http://schemas.microsoft.com/office/drawing/2014/main" id="{B7C50CEC-2CF9-4545-8E79-EED2EA7A1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229600" cy="10668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1031" name="Picture 79">
            <a:extLst>
              <a:ext uri="{FF2B5EF4-FFF2-40B4-BE49-F238E27FC236}">
                <a16:creationId xmlns:a16="http://schemas.microsoft.com/office/drawing/2014/main" id="{0BFC36F3-520B-44BB-8562-F741AAED1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 kern="12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SzPct val="200000"/>
        <a:buChar char="•"/>
        <a:defRPr kumimoji="1"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•"/>
        <a:defRPr kumimoji="1"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–"/>
        <a:defRPr kumimoji="1"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Char char="–"/>
        <a:defRPr kumimoji="1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053">
            <a:extLst>
              <a:ext uri="{FF2B5EF4-FFF2-40B4-BE49-F238E27FC236}">
                <a16:creationId xmlns:a16="http://schemas.microsoft.com/office/drawing/2014/main" id="{F2D495DF-DC7A-41F9-94FF-6EF0A6A9E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95600"/>
            <a:ext cx="9144000" cy="2133600"/>
          </a:xfrm>
          <a:prstGeom prst="rect">
            <a:avLst/>
          </a:prstGeom>
          <a:solidFill>
            <a:srgbClr val="89A5C7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4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Iterations (for loop)</a:t>
            </a:r>
            <a:endParaRPr kumimoji="0" lang="en-US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171" name="Picture 2054">
            <a:extLst>
              <a:ext uri="{FF2B5EF4-FFF2-40B4-BE49-F238E27FC236}">
                <a16:creationId xmlns:a16="http://schemas.microsoft.com/office/drawing/2014/main" id="{BEF7078F-921A-4993-ACD1-D0DFAEFAF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00400"/>
            <a:ext cx="1295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4">
            <a:extLst>
              <a:ext uri="{FF2B5EF4-FFF2-40B4-BE49-F238E27FC236}">
                <a16:creationId xmlns:a16="http://schemas.microsoft.com/office/drawing/2014/main" id="{1CB8C5FD-BDCD-46D7-A026-6B642E822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181600"/>
            <a:ext cx="6019800" cy="1447800"/>
          </a:xfrm>
          <a:prstGeom prst="rect">
            <a:avLst/>
          </a:prstGeom>
          <a:solidFill>
            <a:srgbClr val="00FFFF">
              <a:alpha val="50195"/>
            </a:srgbClr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45000"/>
              </a:spcBef>
              <a:buClr>
                <a:srgbClr val="B00000"/>
              </a:buClr>
              <a:buSzPct val="200000"/>
              <a:buChar char="•"/>
              <a:defRPr kumimoji="1"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buClr>
                <a:srgbClr val="B00000"/>
              </a:buClr>
              <a:buChar char="•"/>
              <a:defRPr kumimoji="1"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buClr>
                <a:srgbClr val="B00000"/>
              </a:buClr>
              <a:buChar char="–"/>
              <a:defRPr kumimoji="1"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 sz="2000" b="1"/>
              <a:t>Siva R Jasthi</a:t>
            </a:r>
            <a:endParaRPr lang="en-US" altLang="en-US" sz="1600"/>
          </a:p>
          <a:p>
            <a:pPr>
              <a:buClrTx/>
              <a:buSzTx/>
              <a:buFontTx/>
              <a:buNone/>
            </a:pPr>
            <a:r>
              <a:rPr lang="en-US" altLang="en-US" sz="1600"/>
              <a:t>Information and Computer Sciences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600"/>
              <a:t>Metropolitan State University</a:t>
            </a:r>
          </a:p>
        </p:txBody>
      </p:sp>
      <p:sp>
        <p:nvSpPr>
          <p:cNvPr id="7173" name="Rectangle: Rounded Corners 7">
            <a:extLst>
              <a:ext uri="{FF2B5EF4-FFF2-40B4-BE49-F238E27FC236}">
                <a16:creationId xmlns:a16="http://schemas.microsoft.com/office/drawing/2014/main" id="{1BE6E940-59BE-45E4-BB44-D711DD9E3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600"/>
            <a:ext cx="6400800" cy="2286000"/>
          </a:xfrm>
          <a:prstGeom prst="roundRect">
            <a:avLst>
              <a:gd name="adj" fmla="val 16667"/>
            </a:avLst>
          </a:prstGeom>
          <a:solidFill>
            <a:srgbClr val="00FFFF">
              <a:alpha val="50195"/>
            </a:srgbClr>
          </a:solidFill>
          <a:ln w="28575" algn="ctr">
            <a:solidFill>
              <a:schemeClr val="bg1"/>
            </a:solidFill>
            <a:round/>
            <a:headEnd type="none" w="sm" len="sm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har char="•"/>
              <a:defRPr kumimoji="1" sz="1200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en-US" sz="2400" dirty="0">
                <a:solidFill>
                  <a:schemeClr val="bg2"/>
                </a:solidFill>
              </a:rPr>
              <a:t>ICS141 Programming with Objects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en-US" sz="2400" dirty="0">
                <a:solidFill>
                  <a:schemeClr val="bg2"/>
                </a:solidFill>
              </a:rPr>
              <a:t>Lecture Notes (pdf)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en-US" sz="2400" dirty="0">
                <a:solidFill>
                  <a:schemeClr val="bg2"/>
                </a:solidFill>
              </a:rPr>
              <a:t>Week 5  (Chapter 5)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en-US" sz="2400" dirty="0">
                <a:solidFill>
                  <a:schemeClr val="bg2"/>
                </a:solidFill>
              </a:rPr>
              <a:t>Spring 2021 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Iterations (loops)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8F1173-78F2-451B-BEF7-0E73305D29B9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390436"/>
            <a:ext cx="8229600" cy="20385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400" dirty="0">
                <a:solidFill>
                  <a:schemeClr val="bg2"/>
                </a:solidFill>
              </a:rPr>
              <a:t>Iterations help in executing a block of code several times.</a:t>
            </a:r>
          </a:p>
          <a:p>
            <a:pPr>
              <a:lnSpc>
                <a:spcPct val="120000"/>
              </a:lnSpc>
            </a:pPr>
            <a:r>
              <a:rPr lang="en-US" altLang="en-US" sz="2400" dirty="0">
                <a:solidFill>
                  <a:schemeClr val="bg2"/>
                </a:solidFill>
              </a:rPr>
              <a:t>You can execute a block of code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solidFill>
                  <a:schemeClr val="bg2"/>
                </a:solidFill>
              </a:rPr>
              <a:t>A fixed number of times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solidFill>
                  <a:schemeClr val="bg2"/>
                </a:solidFill>
              </a:rPr>
              <a:t>Or till some condition is met. </a:t>
            </a:r>
          </a:p>
          <a:p>
            <a:pPr>
              <a:lnSpc>
                <a:spcPct val="120000"/>
              </a:lnSpc>
            </a:pPr>
            <a:endParaRPr lang="en-US" altLang="en-US" sz="2400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2400" dirty="0">
                <a:solidFill>
                  <a:schemeClr val="bg2"/>
                </a:solidFill>
              </a:rPr>
              <a:t>You can also have nested loops (loops inside loops).</a:t>
            </a:r>
          </a:p>
          <a:p>
            <a:pPr>
              <a:lnSpc>
                <a:spcPct val="120000"/>
              </a:lnSpc>
            </a:pPr>
            <a:r>
              <a:rPr lang="en-US" altLang="en-US" sz="2400" dirty="0">
                <a:solidFill>
                  <a:schemeClr val="bg2"/>
                </a:solidFill>
              </a:rPr>
              <a:t>continue – will help to suspend the loop temporarily and restart the execution from beginning</a:t>
            </a:r>
          </a:p>
          <a:p>
            <a:pPr>
              <a:lnSpc>
                <a:spcPct val="120000"/>
              </a:lnSpc>
            </a:pPr>
            <a:r>
              <a:rPr lang="en-US" altLang="en-US" sz="2400" dirty="0">
                <a:solidFill>
                  <a:schemeClr val="bg2"/>
                </a:solidFill>
              </a:rPr>
              <a:t>break– will help in stopping the loop and exiting out of the loop.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041324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Flow of “for”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 descr="For loop - Wikipedia">
            <a:extLst>
              <a:ext uri="{FF2B5EF4-FFF2-40B4-BE49-F238E27FC236}">
                <a16:creationId xmlns:a16="http://schemas.microsoft.com/office/drawing/2014/main" id="{39562497-52E7-49FC-8B75-FBE07B905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698" y="293474"/>
            <a:ext cx="2857500" cy="621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45CABE7-FA52-4446-B2C3-22C3C17CD78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619037"/>
            <a:ext cx="8229600" cy="20385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en-US" sz="4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(A;B;C)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4800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D;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altLang="en-US" sz="4800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8F1173-78F2-451B-BEF7-0E73305D29B9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3888867"/>
            <a:ext cx="8229600" cy="20385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en-US" dirty="0">
                <a:solidFill>
                  <a:schemeClr val="bg2"/>
                </a:solidFill>
              </a:rPr>
              <a:t>Remember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chemeClr val="bg2"/>
                </a:solidFill>
              </a:rPr>
              <a:t>Two semi-colons in the loop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chemeClr val="bg2"/>
                </a:solidFill>
              </a:rPr>
              <a:t>ABDC </a:t>
            </a: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 BDC  BDC  BDC</a:t>
            </a:r>
            <a:endParaRPr lang="en-US" altLang="en-US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</a:pPr>
            <a:endParaRPr lang="en-US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271892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9060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600" noProof="1"/>
              <a:t>The</a:t>
            </a:r>
            <a:r>
              <a:rPr lang="en-US" sz="3600" noProof="1">
                <a:solidFill>
                  <a:srgbClr val="0000CC"/>
                </a:solidFill>
                <a:latin typeface="Bell MT" pitchFamily="18" charset="0"/>
              </a:rPr>
              <a:t> for</a:t>
            </a:r>
            <a:r>
              <a:rPr lang="en-US" sz="3600" noProof="1"/>
              <a:t> </a:t>
            </a:r>
            <a:r>
              <a:rPr lang="en-US" sz="3600" dirty="0"/>
              <a:t>Structure: Semantics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0000CC"/>
                </a:solidFill>
                <a:latin typeface="Bell MT" pitchFamily="18" charset="0"/>
              </a:rPr>
              <a:t>for</a:t>
            </a:r>
            <a:r>
              <a:rPr lang="en-US" altLang="en-US" sz="2000" dirty="0"/>
              <a:t> loop consists of the following: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800" b="1" dirty="0">
                <a:solidFill>
                  <a:srgbClr val="FF0000"/>
                </a:solidFill>
              </a:rPr>
              <a:t>Loop index (or control variable):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600" dirty="0" err="1">
                <a:solidFill>
                  <a:srgbClr val="0000CC"/>
                </a:solidFill>
                <a:latin typeface="Bell MT" pitchFamily="18" charset="0"/>
              </a:rPr>
              <a:t>int</a:t>
            </a:r>
            <a:r>
              <a:rPr lang="en-US" altLang="en-US" sz="1600" dirty="0">
                <a:solidFill>
                  <a:srgbClr val="0000CC"/>
                </a:solidFill>
                <a:latin typeface="Bell MT" pitchFamily="18" charset="0"/>
              </a:rPr>
              <a:t> counter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600" dirty="0"/>
              <a:t>Index of the loop MUST be of type </a:t>
            </a:r>
            <a:r>
              <a:rPr lang="en-US" altLang="en-US" sz="1600" dirty="0">
                <a:solidFill>
                  <a:srgbClr val="0000CC"/>
                </a:solidFill>
                <a:latin typeface="Bell MT" pitchFamily="18" charset="0"/>
              </a:rPr>
              <a:t> </a:t>
            </a:r>
            <a:r>
              <a:rPr lang="en-US" altLang="en-US" sz="1600" dirty="0" err="1">
                <a:solidFill>
                  <a:srgbClr val="0000CC"/>
                </a:solidFill>
                <a:latin typeface="Bell MT" pitchFamily="18" charset="0"/>
              </a:rPr>
              <a:t>int</a:t>
            </a:r>
            <a:endParaRPr lang="en-US" altLang="en-US" sz="16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1800" b="1" dirty="0">
                <a:solidFill>
                  <a:srgbClr val="FF0000"/>
                </a:solidFill>
              </a:rPr>
              <a:t>Initial value for the loop index: 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600" dirty="0">
                <a:solidFill>
                  <a:srgbClr val="0000CC"/>
                </a:solidFill>
                <a:latin typeface="Bell MT" pitchFamily="18" charset="0"/>
              </a:rPr>
              <a:t>counter = 1</a:t>
            </a:r>
            <a:endParaRPr lang="en-US" altLang="en-US" sz="16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1800" b="1" dirty="0">
                <a:solidFill>
                  <a:srgbClr val="FF0000"/>
                </a:solidFill>
              </a:rPr>
              <a:t>Loop continuation condition: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600" dirty="0">
                <a:solidFill>
                  <a:srgbClr val="0000CC"/>
                </a:solidFill>
                <a:latin typeface="Bell MT" pitchFamily="18" charset="0"/>
              </a:rPr>
              <a:t>counter &lt;=10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600" dirty="0"/>
              <a:t>As long as the condition </a:t>
            </a:r>
            <a:r>
              <a:rPr lang="en-US" altLang="en-US" sz="1600" dirty="0">
                <a:solidFill>
                  <a:srgbClr val="0000CC"/>
                </a:solidFill>
                <a:latin typeface="Bell MT" pitchFamily="18" charset="0"/>
              </a:rPr>
              <a:t>counter&lt;=10 </a:t>
            </a:r>
            <a:r>
              <a:rPr lang="en-US" altLang="en-US" sz="1600" dirty="0"/>
              <a:t>is TRUE, the code inside the loop is re-executed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800" dirty="0"/>
              <a:t> </a:t>
            </a:r>
            <a:r>
              <a:rPr lang="en-US" altLang="en-US" sz="1800" b="1" dirty="0">
                <a:solidFill>
                  <a:srgbClr val="FF0000"/>
                </a:solidFill>
              </a:rPr>
              <a:t>Step: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600" dirty="0">
                <a:solidFill>
                  <a:srgbClr val="0000CC"/>
                </a:solidFill>
                <a:latin typeface="Bell MT" pitchFamily="18" charset="0"/>
              </a:rPr>
              <a:t>counter = counter + 1 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600" dirty="0"/>
              <a:t>Increment </a:t>
            </a:r>
            <a:r>
              <a:rPr lang="en-US" altLang="en-US" sz="1600" dirty="0">
                <a:solidFill>
                  <a:srgbClr val="0000CC"/>
                </a:solidFill>
                <a:latin typeface="Bell MT" pitchFamily="18" charset="0"/>
              </a:rPr>
              <a:t>counter</a:t>
            </a:r>
            <a:r>
              <a:rPr lang="en-US" altLang="en-US" sz="1600" dirty="0"/>
              <a:t> by 1 after each time of execution </a:t>
            </a:r>
          </a:p>
        </p:txBody>
      </p:sp>
      <p:sp>
        <p:nvSpPr>
          <p:cNvPr id="68613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84B8A5-C9B7-403A-8D34-B15F55D35566}" type="slidenum">
              <a:rPr lang="en-US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6" name="Slide Number Placeholder 1"/>
          <p:cNvSpPr txBox="1">
            <a:spLocks/>
          </p:cNvSpPr>
          <p:nvPr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4B8A5-C9B7-403A-8D34-B15F55D3556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99159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907774" y="69574"/>
            <a:ext cx="8229600" cy="990600"/>
          </a:xfrm>
        </p:spPr>
        <p:txBody>
          <a:bodyPr/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600" dirty="0"/>
              <a:t>Execution steps of the </a:t>
            </a:r>
            <a:r>
              <a:rPr lang="en-US" sz="3600" dirty="0">
                <a:solidFill>
                  <a:srgbClr val="0000CC"/>
                </a:solidFill>
                <a:latin typeface="Bell MT" pitchFamily="18" charset="0"/>
              </a:rPr>
              <a:t>for</a:t>
            </a:r>
            <a:r>
              <a:rPr lang="en-US" sz="3600" dirty="0"/>
              <a:t>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431925"/>
            <a:ext cx="6381750" cy="4435475"/>
          </a:xfrm>
        </p:spPr>
        <p:txBody>
          <a:bodyPr rtlCol="0">
            <a:normAutofit fontScale="85000" lnSpcReduction="10000"/>
          </a:bodyPr>
          <a:lstStyle/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1) The index of the loop is set to the initial value</a:t>
            </a:r>
            <a:endParaRPr lang="en-US" sz="19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2) The loop continuation condition is tested:</a:t>
            </a:r>
          </a:p>
          <a:p>
            <a:pPr marL="327025" lvl="1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2.1) If  FALSE, the loop is terminated and execution proceeds with the next statement after the </a:t>
            </a:r>
            <a:r>
              <a:rPr lang="en-US" sz="2400" dirty="0">
                <a:solidFill>
                  <a:srgbClr val="0000CC"/>
                </a:solidFill>
                <a:latin typeface="Bell MT" pitchFamily="18" charset="0"/>
              </a:rPr>
              <a:t>for</a:t>
            </a:r>
            <a:r>
              <a:rPr lang="en-US" sz="2400" dirty="0"/>
              <a:t> structure</a:t>
            </a:r>
          </a:p>
          <a:p>
            <a:pPr marL="274320" lvl="1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2.2) if TRUE:</a:t>
            </a:r>
          </a:p>
          <a:p>
            <a:pPr marL="548640" lvl="2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100" dirty="0"/>
              <a:t>a) The body of the loop is executed</a:t>
            </a:r>
          </a:p>
          <a:p>
            <a:pPr marL="548640" lvl="2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100" dirty="0"/>
              <a:t>b) The step is updated to change the value of the index variable</a:t>
            </a:r>
          </a:p>
          <a:p>
            <a:pPr marL="548640" lvl="2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100" dirty="0"/>
              <a:t>c) Go back to step 2</a:t>
            </a:r>
          </a:p>
          <a:p>
            <a:pPr marL="182880" indent="-182880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119917" y="4048475"/>
            <a:ext cx="615002" cy="7938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125639" y="2590801"/>
            <a:ext cx="12627" cy="1447799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31952" y="2605359"/>
            <a:ext cx="342900" cy="1587"/>
          </a:xfrm>
          <a:prstGeom prst="straightConnector1">
            <a:avLst/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4B8A5-C9B7-403A-8D34-B15F55D3556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390" y="1066800"/>
            <a:ext cx="18034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28184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82" y="0"/>
            <a:ext cx="8229600" cy="990600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Some typical errors </a:t>
            </a:r>
          </a:p>
        </p:txBody>
      </p:sp>
      <p:sp>
        <p:nvSpPr>
          <p:cNvPr id="9523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84B8A5-C9B7-403A-8D34-B15F55D35566}" type="slidenum">
              <a:rPr lang="en-US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9" name="Slide Number Placeholder 1"/>
          <p:cNvSpPr txBox="1">
            <a:spLocks/>
          </p:cNvSpPr>
          <p:nvPr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4B8A5-C9B7-403A-8D34-B15F55D3556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BC7D-E342-49CD-8633-49DB1F86BF5B}"/>
              </a:ext>
            </a:extLst>
          </p:cNvPr>
          <p:cNvSpPr txBox="1"/>
          <p:nvPr/>
        </p:nvSpPr>
        <p:spPr>
          <a:xfrm>
            <a:off x="152400" y="1600200"/>
            <a:ext cx="4606786" cy="3597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[1] Off by one errors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Are you using  &gt; or &gt;=?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Are you using &lt; or &lt;=?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89221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82" y="0"/>
            <a:ext cx="8229600" cy="990600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Some </a:t>
            </a:r>
            <a:r>
              <a:rPr lang="en-US"/>
              <a:t>typical errors </a:t>
            </a:r>
            <a:endParaRPr lang="en-US" dirty="0"/>
          </a:p>
        </p:txBody>
      </p:sp>
      <p:sp>
        <p:nvSpPr>
          <p:cNvPr id="9523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84B8A5-C9B7-403A-8D34-B15F55D35566}" type="slidenum">
              <a:rPr lang="en-US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9" name="Slide Number Placeholder 1"/>
          <p:cNvSpPr txBox="1">
            <a:spLocks/>
          </p:cNvSpPr>
          <p:nvPr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4B8A5-C9B7-403A-8D34-B15F55D3556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BC7D-E342-49CD-8633-49DB1F86BF5B}"/>
              </a:ext>
            </a:extLst>
          </p:cNvPr>
          <p:cNvSpPr txBox="1"/>
          <p:nvPr/>
        </p:nvSpPr>
        <p:spPr>
          <a:xfrm>
            <a:off x="152400" y="1600200"/>
            <a:ext cx="6934200" cy="454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[2] misplaced semi-colon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for (int x = 0; x &lt; 5; x++);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{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  </a:t>
            </a:r>
            <a:r>
              <a:rPr lang="en-US" sz="2800" dirty="0" err="1"/>
              <a:t>System.out.println</a:t>
            </a:r>
            <a:r>
              <a:rPr lang="en-US" sz="2800" dirty="0"/>
              <a:t>(x);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}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440713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82" y="0"/>
            <a:ext cx="8229600" cy="990600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Some </a:t>
            </a:r>
            <a:r>
              <a:rPr lang="en-US"/>
              <a:t>typical errors </a:t>
            </a:r>
            <a:endParaRPr lang="en-US" dirty="0"/>
          </a:p>
        </p:txBody>
      </p:sp>
      <p:sp>
        <p:nvSpPr>
          <p:cNvPr id="9523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84B8A5-C9B7-403A-8D34-B15F55D35566}" type="slidenum">
              <a:rPr lang="en-US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9" name="Slide Number Placeholder 1"/>
          <p:cNvSpPr txBox="1">
            <a:spLocks/>
          </p:cNvSpPr>
          <p:nvPr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4B8A5-C9B7-403A-8D34-B15F55D3556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BC7D-E342-49CD-8633-49DB1F86BF5B}"/>
              </a:ext>
            </a:extLst>
          </p:cNvPr>
          <p:cNvSpPr txBox="1"/>
          <p:nvPr/>
        </p:nvSpPr>
        <p:spPr>
          <a:xfrm>
            <a:off x="152400" y="1600200"/>
            <a:ext cx="6934200" cy="454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[3] Infinite loops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for (int x = 1; x &gt;0; x++)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{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  </a:t>
            </a:r>
            <a:r>
              <a:rPr lang="en-US" sz="2800" dirty="0" err="1"/>
              <a:t>System.out.println</a:t>
            </a:r>
            <a:r>
              <a:rPr lang="en-US" sz="2800" dirty="0"/>
              <a:t>(x);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}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98909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82" y="0"/>
            <a:ext cx="8229600" cy="990600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continue</a:t>
            </a:r>
          </a:p>
        </p:txBody>
      </p:sp>
      <p:sp>
        <p:nvSpPr>
          <p:cNvPr id="9523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84B8A5-C9B7-403A-8D34-B15F55D35566}" type="slidenum">
              <a:rPr lang="en-US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9" name="Slide Number Placeholder 1"/>
          <p:cNvSpPr txBox="1">
            <a:spLocks/>
          </p:cNvSpPr>
          <p:nvPr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4B8A5-C9B7-403A-8D34-B15F55D3556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BC7D-E342-49CD-8633-49DB1F86BF5B}"/>
              </a:ext>
            </a:extLst>
          </p:cNvPr>
          <p:cNvSpPr txBox="1"/>
          <p:nvPr/>
        </p:nvSpPr>
        <p:spPr>
          <a:xfrm>
            <a:off x="190500" y="1376262"/>
            <a:ext cx="8534400" cy="432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Sometimes, we want to skip some lines of code when some condition is met. However, we want to run the for loop for the next value of the counter variable.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In such cases, “continue” will help.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For example: Print numbers from 1 to 100. However, all the multiples of 13 should not be printed.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26266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82" y="0"/>
            <a:ext cx="8229600" cy="990600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break</a:t>
            </a:r>
          </a:p>
        </p:txBody>
      </p:sp>
      <p:sp>
        <p:nvSpPr>
          <p:cNvPr id="9523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84B8A5-C9B7-403A-8D34-B15F55D35566}" type="slidenum">
              <a:rPr lang="en-US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9" name="Slide Number Placeholder 1"/>
          <p:cNvSpPr txBox="1">
            <a:spLocks/>
          </p:cNvSpPr>
          <p:nvPr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4B8A5-C9B7-403A-8D34-B15F55D3556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BC7D-E342-49CD-8633-49DB1F86BF5B}"/>
              </a:ext>
            </a:extLst>
          </p:cNvPr>
          <p:cNvSpPr txBox="1"/>
          <p:nvPr/>
        </p:nvSpPr>
        <p:spPr>
          <a:xfrm>
            <a:off x="190500" y="1376262"/>
            <a:ext cx="8801100" cy="452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Sometimes, we want to stop the execution of the loop when some condition is met.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That is.. Condition inside the for loop takes the precedence over the loop condition.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In such cases, “break” will help.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dirty="0"/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For example: Print 100 random numbers (whose values are between 1 and 200). However, if the random number is 13, then we do not want to print any more numbers.</a:t>
            </a:r>
          </a:p>
        </p:txBody>
      </p:sp>
    </p:spTree>
    <p:extLst>
      <p:ext uri="{BB962C8B-B14F-4D97-AF65-F5344CB8AC3E}">
        <p14:creationId xmlns:p14="http://schemas.microsoft.com/office/powerpoint/2010/main" val="3286992268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Nested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460" y="1514117"/>
            <a:ext cx="5638800" cy="121919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 nested loop is a loop inside a loop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Example: What is printed on the screen by the following pieces of code: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4B8A5-C9B7-403A-8D34-B15F55D3556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89660" y="3228243"/>
            <a:ext cx="7035140" cy="138499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for (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=1;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&lt;= </a:t>
            </a:r>
            <a:r>
              <a:rPr lang="en-US" sz="1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5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;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++ ) { </a:t>
            </a: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("Outside loop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: "+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);</a:t>
            </a: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	for (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j=1;j &lt;= </a:t>
            </a:r>
            <a:r>
              <a:rPr lang="en-US" sz="1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5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;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j++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		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System.out.</a:t>
            </a:r>
            <a:r>
              <a:rPr lang="en-US" sz="14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print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("Inside j: "+j +", ");</a:t>
            </a: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(); </a:t>
            </a:r>
            <a:endParaRPr lang="en-US" sz="1400" dirty="0">
              <a:solidFill>
                <a:srgbClr val="00B05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60" y="4813078"/>
            <a:ext cx="7035140" cy="138499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for (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=1;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&lt;= </a:t>
            </a:r>
            <a:r>
              <a:rPr lang="en-US" sz="1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5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;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++ ) { </a:t>
            </a: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("Outside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: "+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);</a:t>
            </a: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	for (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j=1;j &lt;= </a:t>
            </a:r>
            <a:r>
              <a:rPr lang="en-US" sz="14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;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j++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		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System.out.</a:t>
            </a:r>
            <a:r>
              <a:rPr lang="en-US" sz="1400" b="1" dirty="0" err="1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print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("Inside j: "+j + ", ");</a:t>
            </a: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System.out.println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(); </a:t>
            </a:r>
            <a:endParaRPr lang="en-US" sz="1400" dirty="0">
              <a:solidFill>
                <a:srgbClr val="00B05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7237806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Types of Loops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effectLst/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AE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effectLst/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A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counting loop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solidFill>
                            <a:schemeClr val="bg2"/>
                          </a:solidFill>
                          <a:effectLst/>
                        </a:rPr>
                        <a:t>Uses a loop control variable to count upwards or downwards (usually by an integer increment.)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sentinel-controlled loop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Loop keeps going until a special value is encountered in the data.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effectLst/>
                        </a:rPr>
                        <a:t>result-controlled loop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Loop keeps going until a test determines that the desired result has been achieved.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Exit-controlled loop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</a:rPr>
                        <a:t>A block of statements are executed at least once. Then the condition is checked to determine whether to iterate over the block of statements.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546746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4B8A5-C9B7-403A-8D34-B15F55D3556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2259698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x-none" altLang="x-none" sz="18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Arial" charset="0"/>
              </a:rPr>
            </a:br>
            <a:endParaRPr kumimoji="0" lang="x-none" altLang="x-none" sz="18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074194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Empty">
  <a:themeElements>
    <a:clrScheme name="Empty 8">
      <a:dk1>
        <a:srgbClr val="220011"/>
      </a:dk1>
      <a:lt1>
        <a:srgbClr val="FFFFFF"/>
      </a:lt1>
      <a:dk2>
        <a:srgbClr val="0F3A68"/>
      </a:dk2>
      <a:lt2>
        <a:srgbClr val="FFFFFF"/>
      </a:lt2>
      <a:accent1>
        <a:srgbClr val="CAD704"/>
      </a:accent1>
      <a:accent2>
        <a:srgbClr val="204658"/>
      </a:accent2>
      <a:accent3>
        <a:srgbClr val="AAAEB9"/>
      </a:accent3>
      <a:accent4>
        <a:srgbClr val="DADADA"/>
      </a:accent4>
      <a:accent5>
        <a:srgbClr val="E1E8AA"/>
      </a:accent5>
      <a:accent6>
        <a:srgbClr val="1C3F4F"/>
      </a:accent6>
      <a:hlink>
        <a:srgbClr val="FFC94C"/>
      </a:hlink>
      <a:folHlink>
        <a:srgbClr val="F07600"/>
      </a:folHlink>
    </a:clrScheme>
    <a:fontScheme name="Empt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45000"/>
          </a:spcBef>
          <a:spcAft>
            <a:spcPct val="0"/>
          </a:spcAft>
          <a:buClrTx/>
          <a:buSzTx/>
          <a:buFontTx/>
          <a:buChar char="•"/>
          <a:tabLst/>
          <a:defRPr kumimoji="1" lang="en-GB" altLang="en-US" sz="1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45000"/>
          </a:spcBef>
          <a:spcAft>
            <a:spcPct val="0"/>
          </a:spcAft>
          <a:buClrTx/>
          <a:buSzTx/>
          <a:buFontTx/>
          <a:buChar char="•"/>
          <a:tabLst/>
          <a:defRPr kumimoji="1" lang="en-GB" altLang="en-US" sz="1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Empty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mpty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mpty 7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mpty 8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FFC94C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C:\win32app\MSOffice\Templates\eds\Empty.pot</Template>
  <TotalTime>321</TotalTime>
  <Words>794</Words>
  <Application>Microsoft Office PowerPoint</Application>
  <PresentationFormat>On-screen Show (4:3)</PresentationFormat>
  <Paragraphs>129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Bell MT</vt:lpstr>
      <vt:lpstr>Courier New</vt:lpstr>
      <vt:lpstr>Times New Roman</vt:lpstr>
      <vt:lpstr>Empty</vt:lpstr>
      <vt:lpstr>PowerPoint Presentation</vt:lpstr>
      <vt:lpstr>Iterations (loops)</vt:lpstr>
      <vt:lpstr>Flow of “for” loops</vt:lpstr>
      <vt:lpstr>The for Structure: Semantics</vt:lpstr>
      <vt:lpstr>Execution steps of the for loop</vt:lpstr>
      <vt:lpstr>Some typical errors </vt:lpstr>
      <vt:lpstr>Some typical errors </vt:lpstr>
      <vt:lpstr>Some typical errors </vt:lpstr>
      <vt:lpstr>continue</vt:lpstr>
      <vt:lpstr>break</vt:lpstr>
      <vt:lpstr>Nested Loops</vt:lpstr>
      <vt:lpstr>Types of Loops</vt:lpstr>
    </vt:vector>
  </TitlesOfParts>
  <Company>Metaphase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Itasca Lessons Learned</dc:title>
  <dc:creator>lsheets</dc:creator>
  <cp:lastModifiedBy>Jasthi, Jasthi (DI SW LCS DEVOPS)</cp:lastModifiedBy>
  <cp:revision>37</cp:revision>
  <cp:lastPrinted>2001-10-31T19:38:05Z</cp:lastPrinted>
  <dcterms:created xsi:type="dcterms:W3CDTF">2001-10-29T21:13:45Z</dcterms:created>
  <dcterms:modified xsi:type="dcterms:W3CDTF">2022-03-30T03:34:51Z</dcterms:modified>
</cp:coreProperties>
</file>